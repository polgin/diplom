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20"/>
  </p:notesMasterIdLst>
  <p:sldIdLst>
    <p:sldId id="256" r:id="rId4"/>
    <p:sldId id="257" r:id="rId5"/>
    <p:sldId id="274" r:id="rId6"/>
    <p:sldId id="258" r:id="rId7"/>
    <p:sldId id="259" r:id="rId8"/>
    <p:sldId id="260" r:id="rId9"/>
    <p:sldId id="261" r:id="rId10"/>
    <p:sldId id="262" r:id="rId11"/>
    <p:sldId id="279" r:id="rId12"/>
    <p:sldId id="275" r:id="rId13"/>
    <p:sldId id="280" r:id="rId14"/>
    <p:sldId id="269" r:id="rId15"/>
    <p:sldId id="270" r:id="rId16"/>
    <p:sldId id="278" r:id="rId17"/>
    <p:sldId id="272" r:id="rId18"/>
    <p:sldId id="273" r:id="rId19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97F63-BFB9-469E-BF81-A43269F2B91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D00F3-DD8E-4205-9486-52FCFF6F5E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19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D00F3-DD8E-4205-9486-52FCFF6F5EF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926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D00F3-DD8E-4205-9486-52FCFF6F5EF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074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77BD595-51E3-48E9-9747-104B7DFB138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5BA2A9-6600-4473-89BB-220D26BC1130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2373042-4915-4796-8AF0-1667D638F06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D17DA52-4165-4234-B29E-5B871A96CC4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C1D0B3-DB19-4585-BE3E-5180835CD45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BAAE691-135F-4025-AE11-504666E9E68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8FC4CA0-0A2F-4950-83FA-CDE7B55E289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29127E7-21B8-4088-8AEF-1F443E31E63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CD3E2D2-FF96-4DFE-8C5C-C32D0D1ECEE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456979D-E9CA-4CD0-BB92-00611B4F452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82A8B1-A800-41B3-947A-6EF5A127040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AFC5631-0E90-4E49-8FB7-824651A58EF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30F43CB-23F5-4FF3-AEFE-7C8258FBF95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7749EF7-50F2-4E69-A106-42130B8D76C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1880EEE-0097-4479-929B-E23B7808EC7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EA9B41B-86C0-4457-B7D0-6E750459A83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9E55D58-635C-45E3-938E-F582FEE24E1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D42C4E4-1D4C-4384-92E6-175CF6E7C66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2FDC51B-4362-416C-A649-BF922D9BEA4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FC3AF6D-69F8-46F6-B806-80305A93BCA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9D9FE14-E269-455A-AC59-BB5F75EEFFC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7FB9EE2-83EE-4434-A21B-390FB06B643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D8D36B1-B3AD-4151-A140-410845AFA70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DEB202C-B652-4790-AB36-3DBB2F0BECB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F16B5D7-8E32-47A7-ABC7-5E1F63C9703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E3B04B6-F094-4580-8548-499CE344FF7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40841EA-EF11-4558-8D65-EE557620995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46CD852-2DAA-4D4B-8BC4-C8C95CB4B70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22BA786-1D84-4EC3-8C48-DFE300C6FF9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4A135B5-75FD-4593-8899-A2251D8F540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D38171BA-15BE-4244-B4E3-0F4CEE6ED66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6ABE4F1-F5D1-4B10-BED5-CBEAA999BF5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D4DAAEB-B246-4232-94C5-070DF7F3E4D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088D52FE-DC25-4459-BE0D-F27A22C2CF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EE8A907-FD11-41EF-978E-1CAEF7315B9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994C84F-539A-4809-B81E-A83C50B017E4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C12BF7-4D6B-4400-A67A-C49FA5B9BF4C}" type="slidenum">
              <a:rPr lang="ru-RU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C40C41-8219-4051-9EEA-E16BE0F47C11}" type="slidenum">
              <a:rPr lang="ru-RU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8E986F-7850-4BCC-AB1E-FCA218ADA178}" type="slidenum">
              <a:rPr lang="ru-RU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6820" y="2132856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Times New Roman"/>
              </a:rPr>
              <a:t>Выпускная квалификационная работа</a:t>
            </a:r>
            <a:br>
              <a:rPr lang="ru-RU" sz="3200" dirty="0"/>
            </a:br>
            <a:r>
              <a:rPr lang="ru-RU" sz="3200" b="1" strike="noStrike" spc="-1" dirty="0">
                <a:solidFill>
                  <a:schemeClr val="tx1"/>
                </a:solidFill>
                <a:latin typeface="Times New Roman"/>
              </a:rPr>
              <a:t>Разработка информационной системы для школы иностранных языков</a:t>
            </a:r>
            <a:endParaRPr lang="ru-RU" sz="3200" b="0" strike="noStrike" spc="-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2286000" y="5143680"/>
            <a:ext cx="6399720" cy="9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9000" lnSpcReduction="10000"/>
          </a:bodyPr>
          <a:lstStyle/>
          <a:p>
            <a:pPr indent="0" algn="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Выполнил студент группы: 09.02.07-4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000" spc="-1" dirty="0" err="1">
                <a:solidFill>
                  <a:srgbClr val="052659"/>
                </a:solidFill>
                <a:latin typeface="Times New Roman"/>
              </a:rPr>
              <a:t>Польгин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 Данил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Руководитель: </a:t>
            </a:r>
            <a:r>
              <a:rPr lang="ru-RU" sz="2000" b="0" strike="noStrike" spc="-1" dirty="0" err="1">
                <a:solidFill>
                  <a:srgbClr val="052659"/>
                </a:solidFill>
                <a:latin typeface="Times New Roman"/>
              </a:rPr>
              <a:t>Веледенский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 </a:t>
            </a:r>
            <a:r>
              <a:rPr lang="ru-RU" sz="2000" spc="-1" dirty="0">
                <a:solidFill>
                  <a:srgbClr val="052659"/>
                </a:solidFill>
                <a:latin typeface="Times New Roman"/>
              </a:rPr>
              <a:t>А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.</a:t>
            </a:r>
            <a:r>
              <a:rPr lang="ru-RU" sz="2000" spc="-1" dirty="0">
                <a:solidFill>
                  <a:srgbClr val="052659"/>
                </a:solidFill>
                <a:latin typeface="Times New Roman"/>
              </a:rPr>
              <a:t>С</a:t>
            </a:r>
            <a:r>
              <a:rPr lang="ru-RU" sz="2000" b="0" strike="noStrike" spc="-1" dirty="0">
                <a:solidFill>
                  <a:srgbClr val="052659"/>
                </a:solidFill>
                <a:latin typeface="Times New Roman"/>
              </a:rPr>
              <a:t>.</a:t>
            </a: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1225080" y="500040"/>
            <a:ext cx="69948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4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ГАПОУ «Казанский колледж технологии и дизайна»</a:t>
            </a:r>
            <a:endParaRPr lang="ru-RU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C207B63-9163-462D-AC06-1772DDF6633E}"/>
              </a:ext>
            </a:extLst>
          </p:cNvPr>
          <p:cNvSpPr/>
          <p:nvPr/>
        </p:nvSpPr>
        <p:spPr>
          <a:xfrm>
            <a:off x="107504" y="1416600"/>
            <a:ext cx="8856984" cy="381642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Цель</a:t>
            </a:r>
            <a:endParaRPr lang="ru-RU" sz="60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354013" algn="just">
              <a:lnSpc>
                <a:spcPct val="15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ru-RU" sz="2800" b="0" strike="noStrike" spc="-1" dirty="0">
                <a:solidFill>
                  <a:schemeClr val="bg1"/>
                </a:solidFill>
                <a:latin typeface="Times New Roman"/>
              </a:rPr>
              <a:t>Создание информационной системы </a:t>
            </a:r>
            <a:r>
              <a:rPr lang="ru-RU" sz="2800" spc="-1" dirty="0">
                <a:solidFill>
                  <a:schemeClr val="bg1"/>
                </a:solidFill>
                <a:latin typeface="Times New Roman"/>
              </a:rPr>
              <a:t>для ш</a:t>
            </a:r>
            <a:r>
              <a:rPr lang="ru-RU" sz="2800" b="0" strike="noStrike" spc="-1" dirty="0">
                <a:solidFill>
                  <a:schemeClr val="bg1"/>
                </a:solidFill>
                <a:latin typeface="Times New Roman"/>
              </a:rPr>
              <a:t>колы иностранных языков, обеспечивающей автоматизацию работы менеджера и хранение данных о клиентах, преподавателях, услугах</a:t>
            </a:r>
            <a:r>
              <a:rPr lang="ru-RU" sz="2800" b="0" strike="noStrike" spc="-1">
                <a:solidFill>
                  <a:schemeClr val="bg1"/>
                </a:solidFill>
                <a:latin typeface="Times New Roman"/>
              </a:rPr>
              <a:t>, товарах и </a:t>
            </a:r>
            <a:r>
              <a:rPr lang="ru-RU" sz="2800" b="0" strike="noStrike" spc="-1" dirty="0">
                <a:solidFill>
                  <a:schemeClr val="bg1"/>
                </a:solidFill>
                <a:latin typeface="Times New Roman"/>
              </a:rPr>
              <a:t>рабочем времени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739E79B-0B38-417B-B166-351BD44436FA}"/>
              </a:ext>
            </a:extLst>
          </p:cNvPr>
          <p:cNvSpPr/>
          <p:nvPr/>
        </p:nvSpPr>
        <p:spPr>
          <a:xfrm>
            <a:off x="142968" y="1385160"/>
            <a:ext cx="8856984" cy="49241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Задачи</a:t>
            </a:r>
            <a:endParaRPr lang="ru-RU" sz="5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0000"/>
          </a:bodyPr>
          <a:lstStyle/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bg1"/>
                </a:solidFill>
                <a:latin typeface="Times New Roman"/>
              </a:rPr>
              <a:t>Анализ деятельности школы и выявление основных процессов, требующих автоматизации.</a:t>
            </a:r>
            <a:endParaRPr lang="ru-RU" sz="2400" b="0" strike="noStrike" spc="-1" dirty="0">
              <a:solidFill>
                <a:schemeClr val="bg1"/>
              </a:solidFill>
              <a:latin typeface="Arial"/>
            </a:endParaRP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bg1"/>
                </a:solidFill>
                <a:latin typeface="Times New Roman"/>
              </a:rPr>
              <a:t>Провести проектирование и сформулировать требования к системе</a:t>
            </a: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Реализовать настольное приложение на языке С</a:t>
            </a:r>
            <a:r>
              <a:rPr lang="en-US" sz="2400" spc="-1" dirty="0">
                <a:solidFill>
                  <a:schemeClr val="bg1"/>
                </a:solidFill>
                <a:latin typeface="Times New Roman"/>
              </a:rPr>
              <a:t>#</a:t>
            </a: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 с использованием технологии </a:t>
            </a:r>
            <a:r>
              <a:rPr lang="en-US" sz="2400" spc="-1" dirty="0">
                <a:solidFill>
                  <a:schemeClr val="bg1"/>
                </a:solidFill>
                <a:latin typeface="Times New Roman"/>
              </a:rPr>
              <a:t>WPF </a:t>
            </a: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и </a:t>
            </a:r>
            <a:r>
              <a:rPr lang="en-US" sz="2400" spc="-1" dirty="0">
                <a:solidFill>
                  <a:schemeClr val="bg1"/>
                </a:solidFill>
                <a:latin typeface="Times New Roman"/>
              </a:rPr>
              <a:t>Entity Framework</a:t>
            </a: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разграничение доступа по ролям администратора, клиента и преподавателя;</a:t>
            </a:r>
          </a:p>
          <a:p>
            <a:pPr marL="342900" indent="-342900" algn="just">
              <a:lnSpc>
                <a:spcPct val="16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400" spc="-1" dirty="0">
                <a:solidFill>
                  <a:schemeClr val="bg1"/>
                </a:solidFill>
                <a:latin typeface="Times New Roman"/>
              </a:rPr>
              <a:t>Провести тестирование программного продукта и устранить выявленные ошибки</a:t>
            </a:r>
          </a:p>
        </p:txBody>
      </p:sp>
    </p:spTree>
    <p:extLst>
      <p:ext uri="{BB962C8B-B14F-4D97-AF65-F5344CB8AC3E}">
        <p14:creationId xmlns:p14="http://schemas.microsoft.com/office/powerpoint/2010/main" val="417980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5CC75EA-BE19-4269-A169-1697F3E32124}"/>
              </a:ext>
            </a:extLst>
          </p:cNvPr>
          <p:cNvSpPr/>
          <p:nvPr/>
        </p:nvSpPr>
        <p:spPr>
          <a:xfrm>
            <a:off x="142968" y="1276920"/>
            <a:ext cx="8856984" cy="49241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141561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Актуальность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354013" algn="just" defTabSz="354013">
              <a:lnSpc>
                <a:spcPct val="15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1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1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 взаимодействует с клиентами, контролирует перечень услуг, отслеживает занятость преподавателей, работает с товарами. Если эти процессы ведутся в отдельных файлах или бумажных журналах, сотруднику приходится постоянно сверять данные между различными источниками, что снижает скорость обслуживания клиентов и усложняет контроль актуальности информации.</a:t>
            </a:r>
            <a:endParaRPr lang="en-US" sz="21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 algn="just" defTabSz="354013">
              <a:lnSpc>
                <a:spcPct val="15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связи с этим разработка информационной системы школы иностранных языков является актуальной задачей. </a:t>
            </a:r>
            <a:endParaRPr lang="ru-RU" sz="21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58664F-8696-43BA-A842-27E0FCB34FF9}"/>
              </a:ext>
            </a:extLst>
          </p:cNvPr>
          <p:cNvSpPr/>
          <p:nvPr/>
        </p:nvSpPr>
        <p:spPr>
          <a:xfrm>
            <a:off x="142968" y="2564904"/>
            <a:ext cx="8856984" cy="295232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796788"/>
            <a:ext cx="8228520" cy="12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Выбор </a:t>
            </a:r>
            <a:r>
              <a:rPr lang="ru-RU" sz="5400" b="1" spc="-1" dirty="0">
                <a:solidFill>
                  <a:srgbClr val="7030A0"/>
                </a:solidFill>
                <a:latin typeface="Times New Roman"/>
              </a:rPr>
              <a:t>п</a:t>
            </a: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рограммного обеспечения</a:t>
            </a:r>
            <a:endParaRPr lang="ru-RU" sz="5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4" name="TextBox 132"/>
          <p:cNvSpPr/>
          <p:nvPr/>
        </p:nvSpPr>
        <p:spPr>
          <a:xfrm>
            <a:off x="358992" y="2852936"/>
            <a:ext cx="8712968" cy="32361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354013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1. </a:t>
            </a:r>
            <a:r>
              <a:rPr lang="ru-RU" sz="1800" b="1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Visual Studio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- мощная среда разработки с удобным интерфейсом и поддержкой множества языков.</a:t>
            </a: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2. </a:t>
            </a:r>
            <a:r>
              <a:rPr lang="ru-RU" sz="1800" b="1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С# - 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объектно-ориентированный язык, идеально подходящий для создания приложений на .NET, его легко интегрировать с другими технологиями.</a:t>
            </a: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4013">
              <a:lnSpc>
                <a:spcPct val="100000"/>
              </a:lnSpc>
            </a:pP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3. </a:t>
            </a:r>
            <a:r>
              <a:rPr lang="ru-RU" sz="1800" b="1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SQL Server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- надежная СУБД для хранения и управления данными, с высоким уровнем безопасности и возможностями масштабирования</a:t>
            </a:r>
            <a:r>
              <a:rPr lang="ru-RU" sz="18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.</a:t>
            </a:r>
            <a:endParaRPr lang="ru-RU" sz="18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strike="noStrike" spc="-1" dirty="0">
                <a:solidFill>
                  <a:srgbClr val="7030A0"/>
                </a:solidFill>
                <a:latin typeface="Times New Roman"/>
              </a:rPr>
              <a:t>Схема данных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253E78-A331-41BE-89E9-59B8AE024AC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17680"/>
            <a:ext cx="9144000" cy="544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strike="noStrike" spc="-1" dirty="0">
                <a:solidFill>
                  <a:srgbClr val="7030A0"/>
                </a:solidFill>
                <a:latin typeface="Times New Roman"/>
              </a:rPr>
              <a:t>Основные таблицы с данными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79" name="TextBox 137"/>
          <p:cNvSpPr/>
          <p:nvPr/>
        </p:nvSpPr>
        <p:spPr>
          <a:xfrm>
            <a:off x="2867580" y="1481771"/>
            <a:ext cx="3407760" cy="59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Таблица «</a:t>
            </a:r>
            <a:r>
              <a:rPr lang="en-US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Services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»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Прямоугольник 1"/>
          <p:cNvSpPr/>
          <p:nvPr/>
        </p:nvSpPr>
        <p:spPr>
          <a:xfrm>
            <a:off x="5613120" y="1440000"/>
            <a:ext cx="309456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ru-RU" sz="1800" b="0" strike="noStrike" spc="-1">
              <a:solidFill>
                <a:srgbClr val="052659"/>
              </a:solidFill>
              <a:latin typeface="Arial"/>
              <a:ea typeface="DejaVu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6CD876-3F5D-4E43-8E06-EBF9F31A2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51" y="2159640"/>
            <a:ext cx="3982029" cy="39158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606496-8544-4886-8989-2F9054EAB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9" y="3335023"/>
            <a:ext cx="4608512" cy="1444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40"/>
          <p:cNvSpPr/>
          <p:nvPr/>
        </p:nvSpPr>
        <p:spPr>
          <a:xfrm>
            <a:off x="3024899" y="650904"/>
            <a:ext cx="3094200" cy="48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Таблица</a:t>
            </a:r>
            <a:r>
              <a:rPr lang="ru-RU" sz="1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 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«</a:t>
            </a:r>
            <a:r>
              <a:rPr lang="en-US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Clients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»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D4696C-EF7F-4651-A6A0-FD647167D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13" y="4005064"/>
            <a:ext cx="8216373" cy="12911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A1A60C-335E-4DDD-8154-F5FD7573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466" y="1420276"/>
            <a:ext cx="4549066" cy="22992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58664F-8696-43BA-A842-27E0FCB34FF9}"/>
              </a:ext>
            </a:extLst>
          </p:cNvPr>
          <p:cNvSpPr/>
          <p:nvPr/>
        </p:nvSpPr>
        <p:spPr>
          <a:xfrm>
            <a:off x="142968" y="2060848"/>
            <a:ext cx="8856984" cy="345638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80600" y="476672"/>
            <a:ext cx="8228520" cy="12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sz="4400" b="1" dirty="0" err="1">
                <a:solidFill>
                  <a:srgbClr val="7030A0"/>
                </a:solidFill>
                <a:latin typeface="Times New Roman"/>
              </a:rPr>
              <a:t>Процесс</a:t>
            </a:r>
            <a:r>
              <a:rPr sz="4400" b="1" dirty="0">
                <a:solidFill>
                  <a:srgbClr val="7030A0"/>
                </a:solidFill>
                <a:latin typeface="Times New Roman"/>
              </a:rPr>
              <a:t> </a:t>
            </a:r>
            <a:r>
              <a:rPr sz="4400" b="1" dirty="0" err="1">
                <a:solidFill>
                  <a:srgbClr val="7030A0"/>
                </a:solidFill>
                <a:latin typeface="Times New Roman"/>
              </a:rPr>
              <a:t>разработки</a:t>
            </a:r>
            <a:r>
              <a:rPr sz="4400" b="1" dirty="0">
                <a:solidFill>
                  <a:srgbClr val="7030A0"/>
                </a:solidFill>
                <a:latin typeface="Times New Roman"/>
              </a:rPr>
              <a:t> </a:t>
            </a:r>
            <a:r>
              <a:rPr sz="4400" b="1" dirty="0" err="1">
                <a:solidFill>
                  <a:srgbClr val="7030A0"/>
                </a:solidFill>
                <a:latin typeface="Times New Roman"/>
              </a:rPr>
              <a:t>приложения</a:t>
            </a:r>
            <a:endParaRPr sz="4400" b="1" dirty="0">
              <a:solidFill>
                <a:srgbClr val="7030A0"/>
              </a:solidFill>
              <a:latin typeface="Times New Roman"/>
            </a:endParaRPr>
          </a:p>
        </p:txBody>
      </p:sp>
      <p:sp>
        <p:nvSpPr>
          <p:cNvPr id="174" name="TextBox 132"/>
          <p:cNvSpPr/>
          <p:nvPr/>
        </p:nvSpPr>
        <p:spPr>
          <a:xfrm>
            <a:off x="286984" y="2825028"/>
            <a:ext cx="8712968" cy="32361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354013">
              <a:lnSpc>
                <a:spcPct val="100000"/>
              </a:lnSpc>
            </a:pP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662400" y="2660526"/>
            <a:ext cx="7818120" cy="2257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1.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Анализ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предметной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области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сбор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требований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2.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Проектирование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архитектуры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базы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данных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3.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Авторизация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регистрация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ролевая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навигация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4.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Страницы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: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профиль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товары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услуги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расписание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5. CRUD-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операции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изображения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финальная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отладка</a:t>
            </a:r>
            <a:endParaRPr sz="2400" dirty="0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40"/>
          <p:cNvSpPr/>
          <p:nvPr/>
        </p:nvSpPr>
        <p:spPr>
          <a:xfrm>
            <a:off x="3024899" y="650904"/>
            <a:ext cx="3094200" cy="48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Таблица</a:t>
            </a:r>
            <a:r>
              <a:rPr lang="ru-RU" sz="1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 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«</a:t>
            </a:r>
            <a:r>
              <a:rPr lang="en-US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Goods</a:t>
            </a:r>
            <a:r>
              <a:rPr lang="ru-RU" sz="2800" b="0" strike="noStrike" spc="-1" dirty="0">
                <a:solidFill>
                  <a:srgbClr val="052659"/>
                </a:solidFill>
                <a:latin typeface="Times New Roman"/>
                <a:ea typeface="DejaVu Sans"/>
              </a:rPr>
              <a:t>»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FBD619-ED54-4BFC-9D6F-8401A4446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22" y="3590056"/>
            <a:ext cx="4867954" cy="16671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855558-511C-4FEE-A263-B4408E644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385" y="1412776"/>
            <a:ext cx="4983228" cy="185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4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958664F-8696-43BA-A842-27E0FCB34FF9}"/>
              </a:ext>
            </a:extLst>
          </p:cNvPr>
          <p:cNvSpPr/>
          <p:nvPr/>
        </p:nvSpPr>
        <p:spPr>
          <a:xfrm>
            <a:off x="142968" y="1780280"/>
            <a:ext cx="8856984" cy="373695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80600" y="332656"/>
            <a:ext cx="8228520" cy="123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sz="4400" b="1" dirty="0" err="1">
                <a:solidFill>
                  <a:srgbClr val="7030A0"/>
                </a:solidFill>
                <a:latin typeface="Times New Roman"/>
              </a:rPr>
              <a:t>Тестирование</a:t>
            </a:r>
            <a:endParaRPr sz="4400" b="1" dirty="0">
              <a:solidFill>
                <a:srgbClr val="7030A0"/>
              </a:solidFill>
              <a:latin typeface="Times New Roman"/>
            </a:endParaRPr>
          </a:p>
        </p:txBody>
      </p:sp>
      <p:sp>
        <p:nvSpPr>
          <p:cNvPr id="174" name="TextBox 132"/>
          <p:cNvSpPr/>
          <p:nvPr/>
        </p:nvSpPr>
        <p:spPr>
          <a:xfrm>
            <a:off x="358992" y="2852936"/>
            <a:ext cx="8712968" cy="32361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354013">
              <a:lnSpc>
                <a:spcPct val="100000"/>
              </a:lnSpc>
            </a:pPr>
            <a:endParaRPr lang="ru-RU" sz="1800" b="0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806416" y="2335576"/>
            <a:ext cx="7818120" cy="2626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1.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Проведено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10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функциональных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сценариев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2.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Проверены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авторизация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регистрация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роли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3.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Проверены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добавление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редактирование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удаление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записей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4.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Проверены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изображения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товары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услуги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расписание</a:t>
            </a:r>
            <a:endParaRPr sz="2400" dirty="0">
              <a:solidFill>
                <a:srgbClr val="FFFFFF"/>
              </a:solidFill>
              <a:latin typeface="Times New Roman"/>
            </a:endParaRPr>
          </a:p>
          <a:p>
            <a:pPr algn="l">
              <a:spcAft>
                <a:spcPts val="800"/>
              </a:spcAft>
            </a:pPr>
            <a:r>
              <a:rPr sz="2400" dirty="0">
                <a:solidFill>
                  <a:srgbClr val="FFFFFF"/>
                </a:solidFill>
                <a:latin typeface="Times New Roman"/>
              </a:rPr>
              <a:t>5.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Итог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: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все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сценарии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пройдены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критичных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ошибок</a:t>
            </a:r>
            <a:r>
              <a:rPr sz="240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Times New Roman"/>
              </a:rPr>
              <a:t>нет</a:t>
            </a:r>
            <a:endParaRPr sz="2400" dirty="0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C200CC0-0381-488D-845C-BD9909BB651C}"/>
              </a:ext>
            </a:extLst>
          </p:cNvPr>
          <p:cNvSpPr/>
          <p:nvPr/>
        </p:nvSpPr>
        <p:spPr>
          <a:xfrm>
            <a:off x="142968" y="1700808"/>
            <a:ext cx="8856984" cy="450027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8" name="TextBox 150"/>
          <p:cNvSpPr/>
          <p:nvPr/>
        </p:nvSpPr>
        <p:spPr>
          <a:xfrm>
            <a:off x="904680" y="226440"/>
            <a:ext cx="7554960" cy="11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7030A0"/>
                </a:solidFill>
                <a:latin typeface="Times New Roman"/>
                <a:ea typeface="DejaVu Sans"/>
              </a:rPr>
              <a:t>ИНСТРУКЦИЯ</a:t>
            </a:r>
            <a:endParaRPr lang="ru-RU" sz="3200" b="0" strike="noStrike" spc="-1" dirty="0">
              <a:solidFill>
                <a:srgbClr val="7030A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600" b="1" strike="noStrike" spc="-1" dirty="0">
                <a:solidFill>
                  <a:srgbClr val="7030A0"/>
                </a:solidFill>
                <a:latin typeface="Times New Roman"/>
                <a:ea typeface="DejaVu Sans"/>
              </a:rPr>
              <a:t>по охране труда при работе на персональном компьютере (ноутбуке)</a:t>
            </a:r>
            <a:endParaRPr lang="ru-RU" sz="26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99" name="TextBox 151"/>
          <p:cNvSpPr/>
          <p:nvPr/>
        </p:nvSpPr>
        <p:spPr>
          <a:xfrm>
            <a:off x="323528" y="1988840"/>
            <a:ext cx="9179640" cy="43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indent="363538">
              <a:lnSpc>
                <a:spcPct val="150000"/>
              </a:lnSpc>
            </a:pPr>
            <a:r>
              <a:rPr lang="ru-RU" sz="2400" b="1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К самостоятельной работе на персональном компьютере допускаются лица, которые:</a:t>
            </a:r>
            <a:endParaRPr lang="ru-RU" sz="2400" b="0" strike="noStrike" spc="-1" dirty="0">
              <a:solidFill>
                <a:schemeClr val="bg1"/>
              </a:solidFill>
              <a:latin typeface="Arial"/>
            </a:endParaRPr>
          </a:p>
          <a:p>
            <a:pPr indent="719138">
              <a:lnSpc>
                <a:spcPct val="150000"/>
              </a:lnSpc>
            </a:pPr>
            <a:r>
              <a:rPr lang="ru-RU" sz="20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</a:t>
            </a:r>
            <a:r>
              <a:rPr lang="ru-RU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 не имеют каких-либо медицинских противопоказаний для работы на персональном</a:t>
            </a:r>
            <a:r>
              <a:rPr lang="en-US" spc="-1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компьютере;</a:t>
            </a:r>
            <a:endParaRPr lang="ru-RU" b="0" strike="noStrike" spc="-1" dirty="0">
              <a:solidFill>
                <a:schemeClr val="bg1"/>
              </a:solidFill>
              <a:latin typeface="Arial"/>
            </a:endParaRPr>
          </a:p>
          <a:p>
            <a:pPr indent="719138">
              <a:lnSpc>
                <a:spcPct val="150000"/>
              </a:lnSpc>
            </a:pPr>
            <a:r>
              <a:rPr lang="ru-RU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прошли вводный инструктаж и первичный инструктаж по охране труда на рабочем месте</a:t>
            </a:r>
            <a:r>
              <a:rPr lang="en-US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;</a:t>
            </a:r>
            <a:endParaRPr lang="ru-RU" b="0" strike="noStrike" spc="-1" dirty="0">
              <a:solidFill>
                <a:schemeClr val="bg1"/>
              </a:solidFill>
              <a:latin typeface="Arial"/>
            </a:endParaRPr>
          </a:p>
          <a:p>
            <a:pPr indent="719138">
              <a:lnSpc>
                <a:spcPct val="150000"/>
              </a:lnSpc>
            </a:pPr>
            <a:r>
              <a:rPr lang="ru-RU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ознакомились с настоящей инструкцией по охране труда при работе с персональным</a:t>
            </a:r>
            <a:r>
              <a:rPr lang="en-US" spc="-1" dirty="0">
                <a:solidFill>
                  <a:schemeClr val="bg1"/>
                </a:solidFill>
                <a:latin typeface="Arial"/>
              </a:rPr>
              <a:t> </a:t>
            </a:r>
            <a:r>
              <a:rPr lang="ru-RU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компьютером.</a:t>
            </a:r>
            <a:endParaRPr lang="ru-RU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258D0EE-29ED-45B3-8697-AC1EBFB1F20D}"/>
              </a:ext>
            </a:extLst>
          </p:cNvPr>
          <p:cNvSpPr/>
          <p:nvPr/>
        </p:nvSpPr>
        <p:spPr>
          <a:xfrm>
            <a:off x="198106" y="1288751"/>
            <a:ext cx="8856984" cy="538944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0" name="TextBox 152"/>
          <p:cNvSpPr/>
          <p:nvPr/>
        </p:nvSpPr>
        <p:spPr>
          <a:xfrm>
            <a:off x="473050" y="1772816"/>
            <a:ext cx="8582040" cy="60748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знать и соблюдать требования </a:t>
            </a:r>
            <a:r>
              <a:rPr lang="ru-RU" sz="1700" b="0" strike="noStrike" spc="-1" dirty="0" err="1">
                <a:solidFill>
                  <a:schemeClr val="bg1"/>
                </a:solidFill>
                <a:latin typeface="Times New Roman"/>
                <a:ea typeface="DejaVu Sans"/>
              </a:rPr>
              <a:t>электро</a:t>
            </a: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 и пожаробезопасности, охраны труда и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производственной санитарии при выполнении работ на персональном компьютере;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иметь четкое представление об опасных и вредных факторах, связанных с выполнением работ на компьютере, знать основные способы защиты от их воздействия;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пользоваться персональным компьютером (ноутбуком) согласно инструкции по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эксплуатации производителя;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знать порядок действий при поломке, возгорании компьютера, сигналы оповещения при пожаре;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уметь пользоваться первичными средствами пожаротушения;</a:t>
            </a:r>
            <a:r>
              <a:rPr lang="ru-RU" sz="1700" b="0" strike="noStrike" spc="-1" dirty="0">
                <a:solidFill>
                  <a:schemeClr val="bg1"/>
                </a:solidFill>
                <a:latin typeface="Arial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− при совместном использовании персонального компьютера (ноутбука) и принтера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 algn="just">
              <a:lnSpc>
                <a:spcPct val="150000"/>
              </a:lnSpc>
            </a:pPr>
            <a:r>
              <a:rPr lang="ru-RU" sz="1700" b="0" strike="noStrike" spc="-1" dirty="0">
                <a:solidFill>
                  <a:schemeClr val="bg1"/>
                </a:solidFill>
                <a:latin typeface="Times New Roman"/>
                <a:ea typeface="DejaVu Sans"/>
              </a:rPr>
              <a:t>соблюдать инструкцию по охране труда при работе на принтере;</a:t>
            </a:r>
            <a:endParaRPr lang="ru-RU" sz="1700" b="0" strike="noStrike" spc="-1" dirty="0">
              <a:solidFill>
                <a:schemeClr val="bg1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7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DC748-A891-4CE8-9A64-FE6E8C7F0B10}"/>
              </a:ext>
            </a:extLst>
          </p:cNvPr>
          <p:cNvSpPr txBox="1"/>
          <p:nvPr/>
        </p:nvSpPr>
        <p:spPr>
          <a:xfrm>
            <a:off x="594150" y="57155"/>
            <a:ext cx="8064896" cy="113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strike="noStrike" spc="-1" dirty="0">
                <a:solidFill>
                  <a:srgbClr val="7030A0"/>
                </a:solidFill>
                <a:latin typeface="Times New Roman"/>
                <a:ea typeface="DejaVu Sans"/>
              </a:rPr>
              <a:t>В целях соблюдения требований охраны труда при работе на персональном компьютере необходимо:</a:t>
            </a:r>
            <a:endParaRPr lang="ru-RU" sz="2400" b="0" strike="noStrike" spc="-1" dirty="0">
              <a:solidFill>
                <a:srgbClr val="7030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922F2D6-2D63-4C86-9BED-55287172F19D}"/>
              </a:ext>
            </a:extLst>
          </p:cNvPr>
          <p:cNvSpPr/>
          <p:nvPr/>
        </p:nvSpPr>
        <p:spPr>
          <a:xfrm>
            <a:off x="143508" y="2852936"/>
            <a:ext cx="8856984" cy="3731464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3459223" y="542404"/>
            <a:ext cx="4977816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strike="noStrike" spc="-1" dirty="0" err="1">
                <a:solidFill>
                  <a:srgbClr val="7030A0"/>
                </a:solidFill>
                <a:latin typeface="Times New Roman"/>
              </a:rPr>
              <a:t>Галаутдинова</a:t>
            </a:r>
            <a:r>
              <a:rPr lang="ru-RU" sz="4400" b="1" strike="noStrike" spc="-1" dirty="0">
                <a:solidFill>
                  <a:srgbClr val="7030A0"/>
                </a:solidFill>
                <a:latin typeface="Times New Roman"/>
              </a:rPr>
              <a:t> Лилия </a:t>
            </a:r>
            <a:r>
              <a:rPr lang="ru-RU" sz="4400" b="1" strike="noStrike" spc="-1" dirty="0" err="1">
                <a:solidFill>
                  <a:srgbClr val="7030A0"/>
                </a:solidFill>
                <a:latin typeface="Times New Roman"/>
              </a:rPr>
              <a:t>Равиловна</a:t>
            </a:r>
            <a:endParaRPr lang="ru-RU" sz="4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740" y="3143816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354013" algn="just" defTabSz="354013">
              <a:lnSpc>
                <a:spcPct val="150000"/>
              </a:lnSpc>
              <a:tabLst>
                <a:tab pos="0" algn="l"/>
              </a:tabLs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Данил предложил нам сделать приложение для оттачивания навыков в создании коммерческих проектов.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Я была не против принять его предложение, к тому же все наши бумажные журналы давно мешают работать. Поэтому Данил сделал нам удобное приложение, которым мы пользуемся. Если я хочу, что-то добавить для удобства, то он поможешь и сделает это. Так, например мы добавили колонку с товарами. Я уже знаю, чем загружу его после того, как он закончит колледж, потому что у меня еще есть идеи как развить приложение.</a:t>
            </a:r>
            <a:endParaRPr lang="ru-RU" sz="21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" name="Блок-схема: узел 1">
            <a:extLst>
              <a:ext uri="{FF2B5EF4-FFF2-40B4-BE49-F238E27FC236}">
                <a16:creationId xmlns:a16="http://schemas.microsoft.com/office/drawing/2014/main" id="{60D9FA77-85BE-4AA1-AA66-B36257B4893C}"/>
              </a:ext>
            </a:extLst>
          </p:cNvPr>
          <p:cNvSpPr/>
          <p:nvPr/>
        </p:nvSpPr>
        <p:spPr>
          <a:xfrm>
            <a:off x="899592" y="194968"/>
            <a:ext cx="2304256" cy="2433896"/>
          </a:xfrm>
          <a:prstGeom prst="flowChartConnector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6A4B3B4E-86E3-41A1-8AAA-2F8E64F021F1}"/>
              </a:ext>
            </a:extLst>
          </p:cNvPr>
          <p:cNvSpPr txBox="1">
            <a:spLocks/>
          </p:cNvSpPr>
          <p:nvPr/>
        </p:nvSpPr>
        <p:spPr>
          <a:xfrm>
            <a:off x="3563888" y="1596820"/>
            <a:ext cx="4977816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Основатель и ген. директор детского центра доп. образования «Кубик-Рубик»</a:t>
            </a:r>
            <a:endParaRPr lang="ru-RU" kern="0" spc="-1" dirty="0">
              <a:solidFill>
                <a:schemeClr val="accent4">
                  <a:lumMod val="5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7530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922F2D6-2D63-4C86-9BED-55287172F19D}"/>
              </a:ext>
            </a:extLst>
          </p:cNvPr>
          <p:cNvSpPr/>
          <p:nvPr/>
        </p:nvSpPr>
        <p:spPr>
          <a:xfrm>
            <a:off x="142968" y="1324648"/>
            <a:ext cx="8856984" cy="54167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1" strike="noStrike" spc="-1" dirty="0">
                <a:solidFill>
                  <a:srgbClr val="7030A0"/>
                </a:solidFill>
                <a:latin typeface="Times New Roman"/>
              </a:rPr>
              <a:t>Заключение</a:t>
            </a:r>
            <a:endParaRPr lang="ru-RU" sz="5400" b="0" strike="noStrike" spc="-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844824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/>
          </a:bodyPr>
          <a:lstStyle/>
          <a:p>
            <a:pPr indent="354013" algn="just" defTabSz="354013">
              <a:lnSpc>
                <a:spcPct val="150000"/>
              </a:lnSpc>
              <a:tabLst>
                <a:tab pos="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ходе выполнения выпускной квалификационной работы была разработана информационная система школы иностранных языков </a:t>
            </a:r>
            <a:r>
              <a:rPr lang="ru-RU" sz="24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LanguageAcademy</a:t>
            </a: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предназначенная для автоматизации деятельности языковой академии. Основное назначение системы заключается в упрощении работы менеджера с клиентами, преподавателями, услугами, товарами и расписанием.</a:t>
            </a:r>
          </a:p>
          <a:p>
            <a:pPr indent="354013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разработки были выполнены все цели и задачи, поставленные до начала проектирования и реализации работы.</a:t>
            </a:r>
            <a:endParaRPr lang="ru-RU" sz="28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0" y="-12172"/>
            <a:ext cx="9144000" cy="687017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8000" b="1" strike="noStrike" spc="-1" dirty="0">
                <a:solidFill>
                  <a:srgbClr val="7030A0"/>
                </a:solidFill>
                <a:latin typeface="Times New Roman"/>
              </a:rPr>
              <a:t>Спасибо</a:t>
            </a:r>
            <a:br>
              <a:rPr lang="ru-RU" sz="8000" b="1" strike="noStrike" spc="-1" dirty="0">
                <a:solidFill>
                  <a:srgbClr val="7030A0"/>
                </a:solidFill>
                <a:latin typeface="Times New Roman"/>
              </a:rPr>
            </a:br>
            <a:r>
              <a:rPr lang="ru-RU" sz="8000" b="1" strike="noStrike" spc="-1" dirty="0">
                <a:solidFill>
                  <a:srgbClr val="7030A0"/>
                </a:solidFill>
                <a:latin typeface="Times New Roman"/>
              </a:rPr>
              <a:t>за внимание!</a:t>
            </a:r>
            <a:endParaRPr lang="ru-RU" sz="8000" b="0" strike="noStrike" spc="-1" dirty="0">
              <a:solidFill>
                <a:srgbClr val="7030A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2102</TotalTime>
  <Words>703</Words>
  <Application>Microsoft Office PowerPoint</Application>
  <PresentationFormat>Экран (4:3)</PresentationFormat>
  <Paragraphs>64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Symbol</vt:lpstr>
      <vt:lpstr>Times New Roman</vt:lpstr>
      <vt:lpstr>Wingdings</vt:lpstr>
      <vt:lpstr>Тема Office</vt:lpstr>
      <vt:lpstr>Тема Office</vt:lpstr>
      <vt:lpstr>Тема Office</vt:lpstr>
      <vt:lpstr>Выпускная квалификационная работа Разработка информационной системы для школы иностранных языков</vt:lpstr>
      <vt:lpstr>Цель</vt:lpstr>
      <vt:lpstr>Задачи</vt:lpstr>
      <vt:lpstr>Актуальность</vt:lpstr>
      <vt:lpstr>Выбор программного обеспечения</vt:lpstr>
      <vt:lpstr>Схема данных</vt:lpstr>
      <vt:lpstr>Основные таблицы с данными</vt:lpstr>
      <vt:lpstr>Презентация PowerPoint</vt:lpstr>
      <vt:lpstr>Процесс разработки приложения</vt:lpstr>
      <vt:lpstr>Презентация PowerPoint</vt:lpstr>
      <vt:lpstr>Тестирование</vt:lpstr>
      <vt:lpstr>Презентация PowerPoint</vt:lpstr>
      <vt:lpstr>Презентация PowerPoint</vt:lpstr>
      <vt:lpstr>Галаутдинова Лилия Равиловна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Выпускаемая квалификационная работа Разработка информационной системы «Магазин хозяйственных товаров»</dc:title>
  <dc:subject/>
  <dc:creator>Пользователь</dc:creator>
  <dc:description/>
  <cp:lastModifiedBy>Danil</cp:lastModifiedBy>
  <cp:revision>45</cp:revision>
  <dcterms:created xsi:type="dcterms:W3CDTF">2025-05-04T09:48:01Z</dcterms:created>
  <dcterms:modified xsi:type="dcterms:W3CDTF">2026-05-24T15:02:52Z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Экран (4:3)</vt:lpwstr>
  </property>
  <property fmtid="{D5CDD505-2E9C-101B-9397-08002B2CF9AE}" pid="4" name="Slides">
    <vt:i4>15</vt:i4>
  </property>
</Properties>
</file>